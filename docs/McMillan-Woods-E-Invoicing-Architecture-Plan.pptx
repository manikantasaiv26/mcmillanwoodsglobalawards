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C4A35A"/>
                </a:solidFill>
                <a:latin typeface="Calibri"/>
              </a:rPr>
              <a:t>McMILLAN WOODS WORLDWIDE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E-Invoice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0515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E8E2DC"/>
                </a:solidFill>
                <a:latin typeface="Calibri"/>
              </a:rPr>
              <a:t>Paperless invoicing for every domain — payroll, logistics,
manufacturing, trading and SCM — on Amazon Web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C4A35A"/>
                </a:solidFill>
                <a:latin typeface="Calibri"/>
              </a:rPr>
              <a:t>TAX  ·  AUDIT  ·  ADVISORY     ·     Professionalism at the Forefront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C8C8C8"/>
                </a:solidFill>
                <a:latin typeface="Calibri"/>
              </a:rPr>
              <a:t>Architecture and delivery plan  ·  90 / 180 / 270–360 days
Prepared from mcmillanwoods.com  ·  5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Global association of independent firms  ·  77+ countries  ·  250+ offices  ·  3,200+ staff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How long will this take?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Direct answer — this is not a few-day build. AWS is ready; tax-authority clearance is the bottleneck.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361188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3611880" cy="123444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72768"/>
            <a:ext cx="32461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90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76272"/>
            <a:ext cx="32461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C4A35A"/>
                </a:solidFill>
                <a:latin typeface="Calibri"/>
              </a:rPr>
              <a:t>Go-live #1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315468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B2B2B"/>
                </a:solidFill>
                <a:latin typeface="Calibri"/>
              </a:rPr>
              <a:t>One country (India GST or Malaysia MyInvois).
One domain (trading B2B).
Thousands of invoices per day.
Three named pilot clients.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08760"/>
            <a:ext cx="361188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08760"/>
            <a:ext cx="3611880" cy="1234440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72768"/>
            <a:ext cx="32461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180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176272"/>
            <a:ext cx="32461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C4A35A"/>
                </a:solidFill>
                <a:latin typeface="Calibri"/>
              </a:rPr>
              <a:t>Multi-domain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926080"/>
            <a:ext cx="315468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B2B2B"/>
                </a:solidFill>
                <a:latin typeface="Calibri"/>
              </a:rPr>
              <a:t>Payroll-adjacent, logistics,
manufacturing, trading, SCM.
Lakhs of invoices per day.
Ops search and tracking.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508760"/>
            <a:ext cx="361188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1508760"/>
            <a:ext cx="3611880" cy="1234440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572768"/>
            <a:ext cx="32461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270–360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176272"/>
            <a:ext cx="32461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C4A35A"/>
                </a:solidFill>
                <a:latin typeface="Calibri"/>
              </a:rPr>
              <a:t>Network 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926080"/>
            <a:ext cx="315468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B2B2B"/>
                </a:solidFill>
                <a:latin typeface="Calibri"/>
              </a:rPr>
              <a:t>250+ member firms as tenants.
Two countries live.
Crore-scale aggregate analytics.
SOC 2 and disaster recovery.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 / 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What the website tells us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McMillan Woods is not a software vendor. It is a global association of independent CA and advisory firms.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55778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73152" cy="2103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572768"/>
            <a:ext cx="526694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Independent firms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901952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B2B2B"/>
                </a:solidFill>
                <a:latin typeface="Calibri"/>
              </a:rPr>
              <a:t>No equity in each other. Firm A must never see Firm B’s invoices. Secretariat operates; it does not own client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63040"/>
            <a:ext cx="55778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463040"/>
            <a:ext cx="73152" cy="2103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1572768"/>
            <a:ext cx="526694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Services already in house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1901952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B2B2B"/>
                </a:solidFill>
                <a:latin typeface="Calibri"/>
              </a:rPr>
              <a:t>Bookkeeping, payroll, GST/VAT returns, outsourcing for start-ups and foreign-owned companies.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40"/>
            <a:ext cx="55778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40"/>
            <a:ext cx="73152" cy="2103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58768"/>
            <a:ext cx="526694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ERP reality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87952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B2B2B"/>
                </a:solidFill>
                <a:latin typeface="Calibri"/>
              </a:rPr>
              <a:t>Member firms already sit on Tally, SAP, Dynamics, Xero, QuickBooks — connectors are first-class work, not an afterthought.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49040"/>
            <a:ext cx="55778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749040"/>
            <a:ext cx="73152" cy="2103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3858768"/>
            <a:ext cx="526694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Malaysia head-start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187952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B2B2B"/>
                </a:solidFill>
                <a:latin typeface="Calibri"/>
              </a:rPr>
              <a:t>June 2024 seminar “Beyond e-Invoice Compliance in Malaysia” with YGL-World. Wrap partners; do not rebuild them on Day 1.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 / 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Product positioning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Member firms keep the client relationship. The platform is the engine.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107899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McMillan Woods E-Invoice Cloud is the shared compliance fabric: ingest from payroll, ERP, WMS and TMS  →  validate  →  clear with the tax authority  →  store IRN / UIN / QR  →  track every document at thousands-to-lakhs scale  →  feed books, GST/VAT returns and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46120"/>
            <a:ext cx="278892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73152" cy="27889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355848"/>
            <a:ext cx="247802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8B1A1A"/>
                </a:solidFill>
                <a:latin typeface="Calibri"/>
              </a:rPr>
              <a:t>ASP (McM platform)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685032"/>
            <a:ext cx="247802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Application layer, portals, tracking, domain packs. This is what we build.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3246120"/>
            <a:ext cx="278892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4992" y="3246120"/>
            <a:ext cx="73152" cy="27889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355848"/>
            <a:ext cx="247802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8B1A1A"/>
                </a:solidFill>
                <a:latin typeface="Calibri"/>
              </a:rPr>
              <a:t>GSP / MyInvois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685032"/>
            <a:ext cx="247802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Licensed pipe to NIC IRP (India) and LHDN (Malaysia). Contract in week 1. YGL is the existing MY option.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3246120"/>
            <a:ext cx="278892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2784" y="3246120"/>
            <a:ext cx="73152" cy="27889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355848"/>
            <a:ext cx="247802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8B1A1A"/>
                </a:solidFill>
                <a:latin typeface="Calibri"/>
              </a:rPr>
              <a:t>Taxpayer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685032"/>
            <a:ext cx="247802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Client legal entity (GSTIN / TIN / BRN). Onboarded by the member firm.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0576" y="3246120"/>
            <a:ext cx="278892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0576" y="3246120"/>
            <a:ext cx="73152" cy="27889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3355848"/>
            <a:ext cx="247802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8B1A1A"/>
                </a:solidFill>
                <a:latin typeface="Calibri"/>
              </a:rPr>
              <a:t>Member firm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4" y="3685032"/>
            <a:ext cx="247802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Tenant. Issues invoices as outsourced accountant. Owns the engagement letter.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 / 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E-invoicing across all domains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Salary itself is not a GST / MyInvois supply. Adjacent documents are. Paper is already not a legal invoice.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17320"/>
          <a:ext cx="1124712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760720"/>
                <a:gridCol w="3108960"/>
              </a:tblGrid>
              <a:tr h="6988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becomes an e-invoice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Volume pattern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Professional / McM AR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Fee invoices, retainers, disbursements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Hundreds–thousands / day per firm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Payroll-adjacent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Contractors, reimbursements, MY perquisites, employee-on-behalf expenses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Month-end spike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Trading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B2B tax invoices, credit/debit notes, MY B2C consolidated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Thousands–lakhs / day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Manufacturing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Finished goods, job-work, scrap, returns tied to original IRN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HSN-heavy thousands / day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Logistics / 3PL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Freight, warehouse, detention — gated on proof of delivery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Event-driven bursts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SCM / procurement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Self-billed imports, agents/dealers, individual sellers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Inbound spike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 / 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Two clearance regimes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Pick the market where the first paying clients sit. Second country in Phase 5 — not Day 90.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55778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5577840" cy="64008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212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</a:rPr>
              <a:t>India  ·  GST  ·  NIC IRP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8600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Legal invoice = JSON registered on IRP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Returns IRN (hash) + signed QR on the print copy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Invoice, credit note, debit note; optional e-way bill by IRN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Idempotent key: GSTIN + FY + doc type + number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Duplicate IRN (error 2150) = treat as success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McM is ASP on a licensed GSP — do not become a GSP in v1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Auth token ~6 hours; per-GSTIN rate limit ~100–500/min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553212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5532120" cy="640080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5212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</a:rPr>
              <a:t>Malaysia  ·  LHDN MyInvois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8600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Clearance-first: UIN + QR before the document is legal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Invoice, CN, DN, refund, self-billed, consolidated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Consolidated monthly, within 7 days after month-end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From 1 Jan 2026: line over RM10,000 cannot be consolidated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Phase 4 (RM1m–RM5m) live; penalties from 1 Jan 2028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Reuse YGL-World / MDEC-accredited provider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▸  McM already trained member firms (June 2024 seminar)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 / 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Architecture principle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One canonical invoice graph inside McM. Many domain ingest adapters and jurisdiction clearance adapters around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554480"/>
            <a:ext cx="219456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554480"/>
            <a:ext cx="2194560" cy="64008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642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1. Ingest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331720"/>
            <a:ext cx="19659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>
                <a:solidFill>
                  <a:srgbClr val="2B2B2B"/>
                </a:solidFill>
                <a:latin typeface="Calibri"/>
              </a:rPr>
              <a:t>REST, SFTP, CSV,
Tally, SAP, Xero,
payroll, TMS, WMS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606040"/>
            <a:ext cx="411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8B1A1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1554480"/>
            <a:ext cx="219456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1554480"/>
            <a:ext cx="2194560" cy="640080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40" y="16642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2. Canonical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2331720"/>
            <a:ext cx="19659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>
                <a:solidFill>
                  <a:srgbClr val="2B2B2B"/>
                </a:solidFill>
                <a:latin typeface="Calibri"/>
              </a:rPr>
              <a:t>Invoice aggregate,
tax engine, numbers,
tenant isolation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606040"/>
            <a:ext cx="411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8B1A1A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1554480"/>
            <a:ext cx="219456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1554480"/>
            <a:ext cx="2194560" cy="64008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16642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3. Clearance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2331720"/>
            <a:ext cx="19659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>
                <a:solidFill>
                  <a:srgbClr val="2B2B2B"/>
                </a:solidFill>
                <a:latin typeface="Calibri"/>
              </a:rPr>
              <a:t>Step Functions saga,
GSP → NIC IRP,
MyInvois / YGL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606040"/>
            <a:ext cx="411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8B1A1A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1554480"/>
            <a:ext cx="219456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06640" y="1554480"/>
            <a:ext cx="2194560" cy="640080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0" y="16642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4. Artefacts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6368" y="2331720"/>
            <a:ext cx="19659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>
                <a:solidFill>
                  <a:srgbClr val="2B2B2B"/>
                </a:solidFill>
                <a:latin typeface="Calibri"/>
              </a:rPr>
              <a:t>PDF/A + QR, IRN/UIN,
S3 Object Lock (WORM),
ERP write-back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2606040"/>
            <a:ext cx="411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8B1A1A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38360" y="1554480"/>
            <a:ext cx="219456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554480"/>
            <a:ext cx="2194560" cy="64008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6642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5. Tracking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48088" y="2331720"/>
            <a:ext cx="19659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>
                <a:solidFill>
                  <a:srgbClr val="2B2B2B"/>
                </a:solidFill>
                <a:latin typeface="Calibri"/>
              </a:rPr>
              <a:t>OpenSearch ops,
data lake, QuickSight,
lakhs → crores view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63440"/>
            <a:ext cx="112471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800600"/>
            <a:ext cx="10789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8B1A1A"/>
                </a:solidFill>
                <a:latin typeface="Calibri"/>
              </a:rPr>
              <a:t>Hard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166360"/>
            <a:ext cx="107899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B2B2B"/>
                </a:solidFill>
                <a:latin typeface="Calibri"/>
              </a:rPr>
              <a:t>Tally JSON or SAP IDoc must never call NIC or LHDN directly. Scale-out is per tax identity (one FIFO queue per GSTIN / TIN), not one giant pipe. Crore-scale is the network aggregate across thousands of clients — a single GSTIN cannot legally push crores of IRNs per day.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 / 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AWS reference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Regions: Mumbai (ap-south-1) for India clients · Singapore (ap-southeast-1) for Malaysia / ASEAN.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029200"/>
                <a:gridCol w="4206240"/>
              </a:tblGrid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AWS services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Edge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Route 53, CloudFront, WAF, Cognito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Member-firm login, DDoS, geo DNS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API / compute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API Gateway, EKS, Lambda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Ingest, tax, PDF workers, token refresh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Orchestration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SQS FIFO, EventBridge, Step Functions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Per-GSTIN pacing, retries, DLQ, saga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Aurora PostgreSQL + RLS, DynamoDB, Redis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Canonical OLTP, idempotency, GSP tokens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S3 (SSE-KMS) + Object Lock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Signed JSON, QR, PDF/A, 7–10 year retention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Tracking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Kinesis, Glue, Athena, OpenSearch, QuickSight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Lakhs/crores analytics off the OLTP path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KMS, Secrets Manager, GuardDuty, CloudTrail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Per-tenant keys, GSP certs, audit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 / 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Capacity: thousands, lakhs, crores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AWS will scale. NIC IRP and MyInvois will not. Design per tax identity.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17320"/>
          <a:ext cx="1124712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  <a:gridCol w="4846320"/>
              </a:tblGrid>
              <a:tr h="6324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Ambition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Docs / day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Peak / sec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Feasible?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Single SME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Trivial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Busy trader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Easy on AWS; watch IRP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Large 3PL / plant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lakh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~12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AWS yes — many GSTINs + GSP contract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Network slice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10 lakh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~120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Kinesis/MSK; IRP only if sharded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Network crore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crore+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400+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Data lake + sharded status. Not one IRP credential.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534924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Indicative AWS: USD 1.5k–4k / month at pilot  ·  USD 8k–25k at 1–5 lakh / day network  ·  GSP per-document fees often exceed AWS. Retry storms can 10× cost and get the GSP suspended.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 / 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First 90 days — go-live #1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Team of 8–10. Sandbox credentials must be in hand by Day 15 or the date slips by the same number of days.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53312"/>
          <a:ext cx="114300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3657600"/>
                <a:gridCol w="3017520"/>
              </a:tblGrid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Engineering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Tax / partner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AWS / security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1–5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Freeze architecture, repo, CI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Choose India vs Malaysia; 3 pilots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Org, IAM, billing alarms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6–15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Tenant + Invoice API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Sign GSP / YGL; GSTIN/TIN list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VPC, EKS, Aurora, KMS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16–30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CSV + Tally ingest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Sandbox credentials in hand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WAF, secrets, environments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31–50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Mapper, validator, SQS workers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Schema field dictionary signed off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Step Functions, observability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51–70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IRP / MyInvois adapter, PDF+QR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Sandbox pack + 20 error codes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Authorisation pen-test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71–85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ERP write-back, ops console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UAT then first live invoices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Backup drill, Object Lock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86–90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Hypercare dashboards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Rejection war-room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Cost and rate-limit review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 / 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Phases after Day 90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Ship domain packs in volume order. Second country only after the first is boringly reliable.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46304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463040"/>
            <a:ext cx="3657600" cy="10515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536192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C4A35A"/>
                </a:solidFill>
                <a:latin typeface="Calibri"/>
              </a:rPr>
              <a:t>P3  Days 50–150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874519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Domain packs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97480"/>
            <a:ext cx="329184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1. Trading B2B (needed for go-live)
2. Manufacturing (HSN, plants, job-work)
3. Logistics (POD gate, e-way bill)
4. Payroll-adjacent (month-end batch)
5. SCM self-billed (imports, agents)
Connectors: Tally + CSV first, then Xero/QB, then SAP.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46304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463040"/>
            <a:ext cx="3657600" cy="1051560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36192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C4A35A"/>
                </a:solidFill>
                <a:latin typeface="Calibri"/>
              </a:rPr>
              <a:t>P4  Days 90–180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1874519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Lakhs / day 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697480"/>
            <a:ext cx="329184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Load test 50k docs/hour, 200k peak.
OpenSearch by IRN, GSTIN, consignment.
QuickSight for firms and the network.
DLQ replay, back-pressure, cost alarms.
48-hour soak. Zero cross-tenant leaks.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46304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463040"/>
            <a:ext cx="3657600" cy="1051560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536192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C4A35A"/>
                </a:solidFill>
                <a:latin typeface="Calibri"/>
              </a:rPr>
              <a:t>P5–P6  150–360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1874519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Network + harden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97480"/>
            <a:ext cx="329184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Stand up the other of India / Malaysia.
Onboard 10 then 50 member firms.
GSTR-1 / VAT extract for Advisory.
SOC 2 Type I, DR (RPO 15 min).
UAE Peppol / ZATCA only with a paying client.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 / 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90-day squad and non-goals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One person with an AWS account cannot deliver legal e-invoices in days.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71600"/>
          <a:ext cx="69494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914400"/>
                <a:gridCol w="2651760"/>
              </a:tblGrid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Product / domain (CA + GST/MyInvois)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Must sit with McM tax partners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Engineering lead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Owns architecture and cutover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Backend (invoice + adapters)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Canonical, clearance, ingest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Frontend (firm + ops portals)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McM maroon / red / white / black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Data / integration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Tally, SFTP, CSV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AWS / platform / security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Terraform, tenancy, KMS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QA (schema + load)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IRP error catalogue + soak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371600"/>
            <a:ext cx="411480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7947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Out of scope for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57400"/>
            <a:ext cx="37490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▸  Becoming a GSTN GSP or MDEC Peppol SP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▸  Replacing YGL on the shop floor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▸  Full payroll engine (PF, ESI, payslips)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▸  ZATCA crypto-stamping in 90 days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▸  AI HSN coding as legal authority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▸  One shared DB without row-level security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▸  All 77 countries in the first release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 / 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Risks that actually slip the 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Schedule risk #1 is sandbox credentials. Legal risk #1 is a cross-tenant leak.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53312"/>
          <a:ext cx="114300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200400"/>
                <a:gridCol w="4297680"/>
              </a:tblGrid>
              <a:tr h="553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anchor="ctr" marL="73152" marR="73152" marT="45720" marB="45720">
                    <a:solidFill>
                      <a:srgbClr val="8B1A1A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Sandbox / prod credentials delayed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Go-live slips 1:1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Start paperwork Day 1; backup GSP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Building a GSP instead of an ASP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6–12 month delay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Out of scope for v1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Duplicate IRN / lost write-back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Legally invalid invoices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Idempotency store + Get IRN fallback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Cross-tenant data leak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Network-ending event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RLS + automated isolation tests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IRP throttle / 1-hour ban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Business stop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Per-GSTIN FIFO, jitter, circuit breaker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Treating salary as e-invoice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Wrong law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Payroll adapter allow-list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MY consolidation after RM10k rule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Penalties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Hard stop in the validator</a:t>
                      </a:r>
                    </a:p>
                  </a:txBody>
                  <a:tcPr anchor="ctr" marL="73152" marR="73152" marT="45720" marB="45720">
                    <a:solidFill>
                      <a:srgbClr val="FFFFFF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Scope: UAE + KSA + EU in v1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Never ships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Two jurisdictions max in 180 days</a:t>
                      </a:r>
                    </a:p>
                  </a:txBody>
                  <a:tcPr anchor="ctr" marL="73152" marR="73152" marT="45720" marB="45720">
                    <a:solidFill>
                      <a:srgbClr val="F7F4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 / 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Five decisions needed in week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Until these are answered, engineering can only stand up an empty AWS landing zone — not legal e-invoices.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47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581912"/>
            <a:ext cx="530352" cy="530352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53035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527048"/>
            <a:ext cx="9966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First jurisdiction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837944"/>
            <a:ext cx="9966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India GST or Malaysia MyInvois? Pick where the first paying clients sit.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77440"/>
            <a:ext cx="11247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542032"/>
            <a:ext cx="530352" cy="530352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78608"/>
            <a:ext cx="53035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487168"/>
            <a:ext cx="9966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First 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798064"/>
            <a:ext cx="9966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Trading B2B is the correct default. Payroll and logistics follow.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337560"/>
            <a:ext cx="11247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3502152"/>
            <a:ext cx="530352" cy="530352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538728"/>
            <a:ext cx="53035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447288"/>
            <a:ext cx="9966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Named partners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758184"/>
            <a:ext cx="9966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Which GSP (India) and/or YGL (Malaysia). Contracts, not workshops.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297680"/>
            <a:ext cx="11247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4462272"/>
            <a:ext cx="530352" cy="530352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98848"/>
            <a:ext cx="53035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407408"/>
            <a:ext cx="9966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Operating entity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718304"/>
            <a:ext cx="9966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Which McM legal entity owns the AWS org and customer contracts.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422392"/>
            <a:ext cx="530352" cy="530352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58968"/>
            <a:ext cx="53035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367528"/>
            <a:ext cx="9966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B1A1A"/>
                </a:solidFill>
                <a:latin typeface="Calibri"/>
              </a:rPr>
              <a:t>Three pilots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678424"/>
            <a:ext cx="9966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Named companies with live volume and a partner firm ready to operate them.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 / 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B1A1A"/>
                </a:solidFill>
                <a:latin typeface="Calibri"/>
              </a:rPr>
              <a:t>McM Invoice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01168"/>
            <a:ext cx="39319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C4A35A"/>
                </a:solidFill>
                <a:latin typeface="Calibri"/>
              </a:rPr>
              <a:t>TAX  ·  AUDIT  · 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41414"/>
                </a:solidFill>
                <a:latin typeface="Georgia"/>
              </a:rPr>
              <a:t>Security and operating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32688"/>
            <a:ext cx="1280160" cy="5486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47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Assume a hostile cross-tenant world. Independent firms share a brand, not a ledger.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41732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73152" cy="21945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527048"/>
            <a:ext cx="3346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8B1A1A"/>
                </a:solidFill>
                <a:latin typeface="Calibri"/>
              </a:rPr>
              <a:t>Encryption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856232"/>
            <a:ext cx="334670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KMS CMKs per tenant (or envelope per tenant). TLS 1.2+. S3 Object Lock on cleared artefacts for 7–10 years.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1732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417320"/>
            <a:ext cx="73152" cy="21945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527048"/>
            <a:ext cx="3346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8B1A1A"/>
                </a:solidFill>
                <a:latin typeface="Calibri"/>
              </a:rPr>
              <a:t>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856232"/>
            <a:ext cx="334670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Partner staff see only their tenant. Global Secretariat sees aggregated ops metrics, not line items, unless an engagement letter authorises a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41732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417320"/>
            <a:ext cx="73152" cy="21945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1527048"/>
            <a:ext cx="3346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8B1A1A"/>
                </a:solidFill>
                <a:latin typeface="Calibri"/>
              </a:rPr>
              <a:t>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1856232"/>
            <a:ext cx="334670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Malaysia PDPA, India DPDP, UK GDPR. SOC 2 Type I by Day 180, Type II by Day 360. ISO 27001 if pitching banks (DBS SME financing).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79476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794760"/>
            <a:ext cx="73152" cy="21945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904488"/>
            <a:ext cx="3346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8B1A1A"/>
                </a:solidFill>
                <a:latin typeface="Calibri"/>
              </a:rPr>
              <a:t>Legal pack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233672"/>
            <a:ext cx="334670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Network SaaS master, Accession addendum per firm, DPA, client letter that the McM firm issues/clears as agent.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379476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3794760"/>
            <a:ext cx="73152" cy="21945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904488"/>
            <a:ext cx="3346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8B1A1A"/>
                </a:solidFill>
                <a:latin typeface="Calibri"/>
              </a:rPr>
              <a:t>Secrets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4233672"/>
            <a:ext cx="334670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GSP client id/secret, MyInvois certificates, ERP tokens in Secrets Manager with rotation. Never store PAN / Aadhaar / NRIC unless legally required.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9476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92440" y="3794760"/>
            <a:ext cx="73152" cy="21945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3608" y="3904488"/>
            <a:ext cx="334670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8B1A1A"/>
                </a:solidFill>
                <a:latin typeface="Calibri"/>
              </a:rPr>
              <a:t>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3608" y="4233672"/>
            <a:ext cx="334670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2B2B"/>
                </a:solidFill>
                <a:latin typeface="Calibri"/>
              </a:rPr>
              <a:t>Every clearance request/response stored. CloudTrail organisation trail. Immutable event log on the invoice aggregate.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601968"/>
            <a:ext cx="8686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McMillan Woods  |  Confidential  |  E-Invoice Cloud  |  September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 /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C4A35A"/>
                </a:solidFill>
                <a:latin typeface="Calibri"/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Build McM Invoice Cloud as a multi-tenant ASP on AWS.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E8E2DC"/>
                </a:solidFill>
                <a:latin typeface="Calibri"/>
              </a:rPr>
              <a:t>▸   Day 90 — real IRNs or UINs for three pilots, thousands per day, one country, one domain.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E8E2DC"/>
                </a:solidFill>
                <a:latin typeface="Calibri"/>
              </a:rPr>
              <a:t>▸   Day 180 — five domain packs at lakhs per day, tracking that Advisory can actually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E8E2DC"/>
                </a:solidFill>
                <a:latin typeface="Calibri"/>
              </a:rPr>
              <a:t>▸   Day 270–360 — network product for 250 offices, crore-scale aggregate analytics, SOC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E8E2DC"/>
                </a:solidFill>
                <a:latin typeface="Calibri"/>
              </a:rPr>
              <a:t>▸   Do not advertise this as a week of work because an AWS account exists. That produces PDFs. Under GST and MyInvois, a PDF is still paper.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C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mcmillanwoods.com   ·   Full plan: docs/e-invoicing-architecture-and-delivery-plan.md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